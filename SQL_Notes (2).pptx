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13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2B30"/>
          </a:solidFill>
          <a:ln/>
        </p:spPr>
      </p:sp>
      <p:sp>
        <p:nvSpPr>
          <p:cNvPr id="3" name="Text 1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163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7955280" y="-2194560"/>
            <a:ext cx="5943600" cy="5943600"/>
          </a:xfrm>
          <a:prstGeom prst="ellipse">
            <a:avLst/>
          </a:prstGeom>
          <a:solidFill>
            <a:srgbClr val="0F3238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-640080"/>
            <a:ext cx="3291840" cy="3291840"/>
          </a:xfrm>
          <a:prstGeom prst="ellipse">
            <a:avLst/>
          </a:prstGeom>
          <a:solidFill>
            <a:srgbClr val="123B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kern="0" spc="100" dirty="0">
                <a:solidFill>
                  <a:srgbClr val="3E6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*  FROM  knowledge;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1051560"/>
            <a:ext cx="173736" cy="17373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051560"/>
            <a:ext cx="173736" cy="173736"/>
          </a:xfrm>
          <a:prstGeom prst="rect">
            <a:avLst/>
          </a:prstGeom>
          <a:solidFill>
            <a:srgbClr val="17434A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1051560"/>
            <a:ext cx="173736" cy="17373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1051560"/>
            <a:ext cx="173736" cy="173736"/>
          </a:xfrm>
          <a:prstGeom prst="rect">
            <a:avLst/>
          </a:prstGeom>
          <a:solidFill>
            <a:srgbClr val="17434A"/>
          </a:solidFill>
          <a:ln/>
        </p:spPr>
      </p:sp>
      <p:sp>
        <p:nvSpPr>
          <p:cNvPr id="11" name="Shape 9"/>
          <p:cNvSpPr/>
          <p:nvPr/>
        </p:nvSpPr>
        <p:spPr>
          <a:xfrm>
            <a:off x="1517904" y="1051560"/>
            <a:ext cx="173736" cy="17373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1252728"/>
            <a:ext cx="173736" cy="173736"/>
          </a:xfrm>
          <a:prstGeom prst="rect">
            <a:avLst/>
          </a:prstGeom>
          <a:solidFill>
            <a:srgbClr val="174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252728"/>
            <a:ext cx="173736" cy="17373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" y="1252728"/>
            <a:ext cx="173736" cy="173736"/>
          </a:xfrm>
          <a:prstGeom prst="rect">
            <a:avLst/>
          </a:prstGeom>
          <a:solidFill>
            <a:srgbClr val="174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316736" y="1252728"/>
            <a:ext cx="173736" cy="17373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1517904" y="1252728"/>
            <a:ext cx="173736" cy="173736"/>
          </a:xfrm>
          <a:prstGeom prst="rect">
            <a:avLst/>
          </a:prstGeom>
          <a:solidFill>
            <a:srgbClr val="174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3317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8800" dirty="0"/>
          </a:p>
        </p:txBody>
      </p:sp>
      <p:sp>
        <p:nvSpPr>
          <p:cNvPr id="18" name="Shape 16"/>
          <p:cNvSpPr/>
          <p:nvPr/>
        </p:nvSpPr>
        <p:spPr>
          <a:xfrm>
            <a:off x="713232" y="3639312"/>
            <a:ext cx="502920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3520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 Language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RDBMS, Datatypes, Constraints &amp; Relationships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4892040"/>
            <a:ext cx="1024128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892040"/>
            <a:ext cx="10241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RDBMS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911096" y="489204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1911096" y="4892040"/>
            <a:ext cx="9326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CRUD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44952" y="4892040"/>
            <a:ext cx="1389888" cy="42062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3044952" y="4892040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Datatypes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36008" y="4892040"/>
            <a:ext cx="1572768" cy="420624"/>
          </a:xfrm>
          <a:prstGeom prst="roundRect">
            <a:avLst>
              <a:gd name="adj" fmla="val 50000"/>
            </a:avLst>
          </a:prstGeom>
          <a:solidFill>
            <a:srgbClr val="6C3F91"/>
          </a:solidFill>
          <a:ln/>
        </p:spPr>
      </p:sp>
      <p:sp>
        <p:nvSpPr>
          <p:cNvPr id="28" name="Text 26"/>
          <p:cNvSpPr/>
          <p:nvPr/>
        </p:nvSpPr>
        <p:spPr>
          <a:xfrm>
            <a:off x="4636008" y="489204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Constraints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9944" y="4892040"/>
            <a:ext cx="1389888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9944" y="4892040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Relations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580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– 19 AUG 2026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2093976"/>
            <a:ext cx="1828800" cy="2852928"/>
          </a:xfrm>
          <a:prstGeom prst="rect">
            <a:avLst/>
          </a:prstGeom>
          <a:solidFill>
            <a:srgbClr val="F2F7F7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1691640"/>
            <a:ext cx="1828800" cy="804672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0" y="4544568"/>
            <a:ext cx="1828800" cy="804672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</a:rPr>
              <a:t>DATA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732520" y="3246120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732520" y="32461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B30"/>
                </a:solidFill>
              </a:rPr>
              <a:t>SQL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92640" y="3493008"/>
            <a:ext cx="45720" cy="0"/>
          </a:xfrm>
          <a:prstGeom prst="line">
            <a:avLst/>
          </a:prstGeom>
          <a:noFill/>
          <a:ln w="22225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646920" y="3401568"/>
            <a:ext cx="182880" cy="182880"/>
          </a:xfrm>
          <a:prstGeom prst="ellipse">
            <a:avLst/>
          </a:prstGeom>
          <a:solidFill>
            <a:srgbClr val="02C39A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SQL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</a:t>
            </a: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technology / skill</a:t>
            </a:r>
            <a:r>
              <a:rPr lang="en-US" sz="16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which is used to communicate or interact with the software known as </a:t>
            </a: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(Relational database management system).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6035040" cy="2468880"/>
          </a:xfrm>
          <a:prstGeom prst="rect">
            <a:avLst/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546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C7A80"/>
                </a:solidFill>
              </a:rPr>
              <a:t>QUERY LANGUAGE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370332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37033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S/W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40280" y="4023360"/>
            <a:ext cx="2011680" cy="0"/>
          </a:xfrm>
          <a:prstGeom prst="line">
            <a:avLst/>
          </a:prstGeom>
          <a:noFill/>
          <a:ln w="22225">
            <a:solidFill>
              <a:srgbClr val="0B2B3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24028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80"/>
                </a:solidFill>
              </a:rPr>
              <a:t>communication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6634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63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</a:rPr>
              <a:t>SQL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08760" y="4343400"/>
            <a:ext cx="0" cy="320040"/>
          </a:xfrm>
          <a:prstGeom prst="line">
            <a:avLst/>
          </a:prstGeom>
          <a:noFill/>
          <a:ln w="22225">
            <a:solidFill>
              <a:srgbClr val="0B2B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297680" y="466344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6634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RDBMS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4343400"/>
            <a:ext cx="0" cy="320040"/>
          </a:xfrm>
          <a:prstGeom prst="line">
            <a:avLst/>
          </a:prstGeom>
          <a:noFill/>
          <a:ln w="22225">
            <a:solidFill>
              <a:srgbClr val="0B2B3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1508760"/>
            <a:ext cx="4846320" cy="2468880"/>
          </a:xfrm>
          <a:prstGeom prst="roundRect">
            <a:avLst>
              <a:gd name="adj" fmla="val 3704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224028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It is a application which contain set of instruction to perform a specific task.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0" y="4206240"/>
            <a:ext cx="484632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4846320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E35"/>
                </a:solidFill>
              </a:rPr>
              <a:t>It is a place in which we can store the data / information in systematic or organized manner.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RDBMS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RDBMS — CRUD Operations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database we can perform four basic operations / task 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</a:rPr>
              <a:t>Create / Insert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063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</a:rPr>
              <a:t>Read / Retrieve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</a:rPr>
              <a:t>Update / Modify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502920" cy="50292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617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</a:rPr>
              <a:t>Delete / Drop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55321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 which is performed on the database, that operation are called </a:t>
            </a: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operation.</a:t>
            </a: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There all the 4 basic task are also known as CRUD operation.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503920" y="2435047"/>
            <a:ext cx="2377440" cy="2353666"/>
          </a:xfrm>
          <a:prstGeom prst="rect">
            <a:avLst/>
          </a:prstGeom>
          <a:solidFill>
            <a:srgbClr val="F2F7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2103120"/>
            <a:ext cx="2377440" cy="663854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0" y="4456786"/>
            <a:ext cx="2377440" cy="663854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1737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03920" y="5212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0"/>
                </a:solidFill>
              </a:rPr>
              <a:t>DATABASE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E35"/>
                </a:solidFill>
              </a:rPr>
              <a:t>Create / Insert →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E35"/>
                </a:solidFill>
              </a:rPr>
              <a:t>Read / Retrive ←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3474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E35"/>
                </a:solidFill>
              </a:rPr>
              <a:t>Update / Modify 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035040" y="4023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2E35"/>
                </a:solidFill>
              </a:rPr>
              <a:t>Delete / Drop ←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DBMS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software which is used to maintain and managed the database.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5000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E35"/>
                </a:solidFill>
              </a:rPr>
              <a:t>It externally stores the data is in the form of file formate.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21868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E35"/>
                </a:solidFill>
              </a:rPr>
              <a:t>But internally either it will be in the form of table or will be in the form of Json.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8736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2E35"/>
                </a:solidFill>
              </a:rPr>
              <a:t>To interact with the DBMS s/w we need to use Query Language.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0"/>
                </a:solidFill>
              </a:rPr>
              <a:t>It has been classified into two types :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553212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532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① Relational DBMS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55321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5532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② Non-Relational DBMS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0" y="1846174"/>
            <a:ext cx="2377440" cy="2068373"/>
          </a:xfrm>
          <a:prstGeom prst="rect">
            <a:avLst/>
          </a:prstGeom>
          <a:solidFill>
            <a:srgbClr val="F2F7F7"/>
          </a:solidFill>
          <a:ln w="19050">
            <a:solidFill>
              <a:srgbClr val="0B2B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1554480"/>
            <a:ext cx="2377440" cy="583387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B2B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622853"/>
            <a:ext cx="2377440" cy="583387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B2B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1234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B30"/>
                </a:solidFill>
              </a:rPr>
              <a:t>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261518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7A80"/>
                </a:solidFill>
              </a:rPr>
              <a:t>File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251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0"/>
                </a:solidFill>
              </a:rPr>
              <a:t>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DBMS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35040" y="256032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5603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QL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69480" y="2788920"/>
            <a:ext cx="868680" cy="0"/>
          </a:xfrm>
          <a:prstGeom prst="line">
            <a:avLst/>
          </a:prstGeom>
          <a:noFill/>
          <a:ln w="22225">
            <a:solidFill>
              <a:srgbClr val="0B2B3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07442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security (pass)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74420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5"/>
                </a:solidFill>
              </a:rPr>
              <a:t>Authority (id)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652760" y="2148840"/>
            <a:ext cx="91440" cy="0"/>
          </a:xfrm>
          <a:prstGeom prst="line">
            <a:avLst/>
          </a:prstGeom>
          <a:noFill/>
          <a:ln w="22225">
            <a:solidFill>
              <a:srgbClr val="0B2B3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652760" y="2560320"/>
            <a:ext cx="91440" cy="0"/>
          </a:xfrm>
          <a:prstGeom prst="line">
            <a:avLst/>
          </a:prstGeom>
          <a:noFill/>
          <a:ln w="22225">
            <a:solidFill>
              <a:srgbClr val="0B2B30"/>
            </a:solidFill>
            <a:prstDash val="solid"/>
            <a:tailEnd type="triangle"/>
          </a:ln>
        </p:spPr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RDBMS  /  # NON-RDBMS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RDBMS &amp; Non-RDBMS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91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RDBMS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E35"/>
                </a:solidFill>
              </a:rPr>
              <a:t>It is a type of DBMS which is used to store's the data in table format is called RDBMS.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80160" y="3437230"/>
            <a:ext cx="1828800" cy="1355141"/>
          </a:xfrm>
          <a:prstGeom prst="rect">
            <a:avLst/>
          </a:prstGeom>
          <a:solidFill>
            <a:srgbClr val="F2F7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3246120"/>
            <a:ext cx="1828800" cy="382219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4601261"/>
            <a:ext cx="1828800" cy="382219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DATA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54480" y="3794760"/>
            <a:ext cx="1280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1505" y="3794760"/>
            <a:ext cx="0" cy="64008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8530" y="3794760"/>
            <a:ext cx="0" cy="64008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4114800"/>
            <a:ext cx="128016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566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E35"/>
                </a:solidFill>
              </a:rPr>
              <a:t>→ security (pass)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2E35"/>
                </a:solidFill>
              </a:rPr>
              <a:t>→ Authority (id)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120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5C7A80"/>
                </a:solidFill>
              </a:rPr>
              <a:t>SQL  →  communicate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5532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30"/>
                </a:solidFill>
              </a:rPr>
              <a:t>Structured Format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806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A80"/>
                </a:solidFill>
              </a:rPr>
              <a:t>Table format : Structured Format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5486400" cy="4892040"/>
          </a:xfrm>
          <a:prstGeom prst="roundRect">
            <a:avLst>
              <a:gd name="adj" fmla="val 1869"/>
            </a:avLst>
          </a:prstGeom>
          <a:solidFill>
            <a:srgbClr val="0B2B30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691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Non-RDBMS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92240" y="21488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It is a type of DBMS which is used to store's the data in Json formate.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40880" y="3437230"/>
            <a:ext cx="1828800" cy="1355141"/>
          </a:xfrm>
          <a:prstGeom prst="rect">
            <a:avLst/>
          </a:prstGeom>
          <a:solidFill>
            <a:srgbClr val="F2F7F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3246120"/>
            <a:ext cx="1828800" cy="382219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4601261"/>
            <a:ext cx="1828800" cy="382219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</a:rPr>
              <a:t>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69480" y="370332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0F3A4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37033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{ Json }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338328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→ security (pass)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→ Authority (id)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→ non-structured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5120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9FD8CE"/>
                </a:solidFill>
              </a:rPr>
              <a:t>NO-SQL  →  communicate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92240" y="5532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Json format : unstructured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5852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FD9DC"/>
                </a:solidFill>
              </a:rPr>
              <a:t>To communicate with NRDBMS we have to use query language known as NO-SQL.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RDBMS vs NRDBMS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5020056"/>
        </p:xfrm>
        <a:graphic>
          <a:graphicData uri="http://schemas.openxmlformats.org/drawingml/2006/table">
            <a:tbl>
              <a:tblPr/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RDBMS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NRDBMS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store's data into "table"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store's data into document format, key-value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uses fixed / structured schema. (rigid)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usually have a flexible / unstructured schema.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mainly uses SQL to manage the data.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may use different query methods depending on the database. (NO-SQL)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suitable for structured data (text data)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suitable for unstructured or semi-furnished data. (multimedia data).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best for application like banking, billing.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best for application like social media.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easy to maintain → It is mandatory to validate the schema.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difficult to maintain. → schema validation is optional.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will not support nested concept (support for relations).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will support the nested concept.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Exa: mysql, SQL server, postgreSQL, oracle SQL.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Exa: MongoDB, Redis, Apache cassendra, Neo4j, Amazon DB, etc.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E35"/>
                </a:solidFill>
              </a:rPr>
              <a:t>The logical arrangement of row's and colum's are known as </a:t>
            </a:r>
            <a:r>
              <a:rPr lang="en-US" sz="1500" b="1" dirty="0">
                <a:solidFill>
                  <a:srgbClr val="028090"/>
                </a:solidFill>
              </a:rPr>
              <a:t>table.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E35"/>
                </a:solidFill>
              </a:rPr>
              <a:t>The logical arrangement of vertical lines are known as </a:t>
            </a:r>
            <a:r>
              <a:rPr lang="en-US" sz="1500" b="1" dirty="0">
                <a:solidFill>
                  <a:srgbClr val="028090"/>
                </a:solidFill>
              </a:rPr>
              <a:t>columns.</a:t>
            </a:r>
            <a:r>
              <a:rPr lang="en-US" sz="1500" dirty="0">
                <a:solidFill>
                  <a:srgbClr val="1A2E35"/>
                </a:solidFill>
              </a:rPr>
              <a:t> The alternative name of a column are attribute / fields.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E35"/>
                </a:solidFill>
              </a:rPr>
              <a:t>The logical arrangement of all the horizontal lines are known as </a:t>
            </a:r>
            <a:r>
              <a:rPr lang="en-US" sz="1500" b="1" dirty="0">
                <a:solidFill>
                  <a:srgbClr val="028090"/>
                </a:solidFill>
              </a:rPr>
              <a:t>row's.</a:t>
            </a:r>
            <a:r>
              <a:rPr lang="en-US" sz="1500" dirty="0">
                <a:solidFill>
                  <a:srgbClr val="1A2E35"/>
                </a:solidFill>
              </a:rPr>
              <a:t> The alternative name for the row's records / tuples.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E35"/>
                </a:solidFill>
              </a:rPr>
              <a:t>The small unit of a table in which the data will get store, that unit is known as </a:t>
            </a:r>
            <a:r>
              <a:rPr lang="en-US" sz="1500" b="1" dirty="0">
                <a:solidFill>
                  <a:srgbClr val="028090"/>
                </a:solidFill>
              </a:rPr>
              <a:t>cell.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5120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No. of cell = Total Number of rows × Total Number of columns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623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FFF9"/>
                </a:solidFill>
              </a:rPr>
              <a:t>Exa:  cell = 4 × 4 = 16 cells.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1554480"/>
            <a:ext cx="777240" cy="777240"/>
          </a:xfrm>
          <a:prstGeom prst="rect">
            <a:avLst/>
          </a:prstGeom>
          <a:solidFill>
            <a:srgbClr val="DCEF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554480"/>
            <a:ext cx="777240" cy="777240"/>
          </a:xfrm>
          <a:prstGeom prst="rect">
            <a:avLst/>
          </a:prstGeom>
          <a:solidFill>
            <a:srgbClr val="DCEF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0" y="1554480"/>
            <a:ext cx="777240" cy="777240"/>
          </a:xfrm>
          <a:prstGeom prst="rect">
            <a:avLst/>
          </a:prstGeom>
          <a:solidFill>
            <a:srgbClr val="DCEF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1554480"/>
            <a:ext cx="777240" cy="777240"/>
          </a:xfrm>
          <a:prstGeom prst="rect">
            <a:avLst/>
          </a:prstGeom>
          <a:solidFill>
            <a:srgbClr val="DCEFE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23317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23317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23317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23317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31089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2440" y="31089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31089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46920" y="31089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388620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388620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69680" y="388620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46920" y="388620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1463040"/>
            <a:ext cx="3840480" cy="0"/>
          </a:xfrm>
          <a:prstGeom prst="line">
            <a:avLst/>
          </a:prstGeom>
          <a:noFill/>
          <a:ln w="22225">
            <a:solidFill>
              <a:srgbClr val="0B2B3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315200" y="1097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0"/>
                </a:solidFill>
              </a:rPr>
              <a:t>columns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B2B30"/>
                </a:solidFill>
              </a:rPr>
              <a:t>Row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78040" y="3017520"/>
            <a:ext cx="0" cy="2194560"/>
          </a:xfrm>
          <a:prstGeom prst="line">
            <a:avLst/>
          </a:prstGeom>
          <a:noFill/>
          <a:ln w="22225">
            <a:solidFill>
              <a:srgbClr val="0B2B30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0515600" y="1554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80"/>
                </a:solidFill>
              </a:rPr>
              <a:t>cells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SQL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51560" y="1874520"/>
            <a:ext cx="0" cy="356616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7373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141732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1970's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17830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E35"/>
                </a:solidFill>
              </a:rPr>
              <a:t>The SQL is invented in the year of 1970's.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63040" y="26060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2651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1979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297180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E35"/>
                </a:solidFill>
              </a:rPr>
              <a:t>The first version has been released in 1979.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41148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63040" y="37947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41605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E35"/>
                </a:solidFill>
              </a:rPr>
              <a:t>The sequl has been renamed as a SQL in the year of 1981 by the person known as E.F. Codd.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5303520"/>
            <a:ext cx="274320" cy="274320"/>
          </a:xfrm>
          <a:prstGeom prst="ellipse">
            <a:avLst/>
          </a:prstGeom>
          <a:solidFill>
            <a:srgbClr val="0B2B30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03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463040" y="49834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164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91640" y="53492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E35"/>
                </a:solidFill>
              </a:rPr>
              <a:t>The sequl was invented by IBM company; now it is under Oracle community.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5989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E35"/>
                </a:solidFill>
              </a:rPr>
              <a:t>It is also known as SEQUL (simple English query language).
</a:t>
            </a:r>
            <a:r>
              <a:rPr lang="en-US" sz="1350" b="1" dirty="0">
                <a:solidFill>
                  <a:srgbClr val="0B2B30"/>
                </a:solidFill>
              </a:rPr>
              <a:t>The father of SQL:  </a:t>
            </a:r>
            <a:r>
              <a:rPr lang="en-US" sz="1350" b="1" dirty="0">
                <a:solidFill>
                  <a:srgbClr val="028090"/>
                </a:solidFill>
              </a:rPr>
              <a:t>Donald D. Chamberlin  &amp;  Raymond F. Boyce.</a:t>
            </a:r>
            <a:endParaRPr lang="en-US" sz="135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 &amp;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Tables — E.F. Codd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(1)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E35"/>
                </a:solidFill>
              </a:rPr>
              <a:t>The data entered into the cell must be single valued data. (Atomic data)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1440E"/>
                </a:solidFill>
              </a:rPr>
              <a:t>Invalid 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Valid table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337560"/>
            <a:ext cx="2286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144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37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</a:rPr>
              <a:t>SID | SNam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2286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144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</a:rPr>
              <a:t>S1 | Raju 123--456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2286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144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69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</a:rPr>
              <a:t>S2 | Shya 123-26 123-27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91840" y="3337560"/>
            <a:ext cx="2286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337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</a:rPr>
              <a:t>SID | SName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3703320"/>
            <a:ext cx="2286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703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</a:rPr>
              <a:t>S1 | Raju 123--456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4069080"/>
            <a:ext cx="22860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4069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5"/>
                </a:solidFill>
              </a:rPr>
              <a:t>S2 | Shyam Null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1520" y="47091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2B30"/>
                </a:solidFill>
              </a:rPr>
              <a:t>Reason: </a:t>
            </a:r>
            <a:r>
              <a:rPr lang="en-US" sz="1200" dirty="0">
                <a:solidFill>
                  <a:srgbClr val="1A2E35"/>
                </a:solidFill>
              </a:rPr>
              <a:t>To prevent the data loss we must have to store the atomic data in a single cell.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440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7A80"/>
                </a:solidFill>
              </a:rPr>
              <a:t>If we want to change one number, it will affect on both no.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141732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0B2B3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1691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(2)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37960" y="233172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In RDBMS we are storing the entire data is in the form of table format &amp; the structure of a table are also known as the schema in the database.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37960" y="370332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2C39A"/>
                </a:solidFill>
              </a:rPr>
              <a:t>We need to validate the entire schema to a database by assigning datatypes and a constraints.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37960" y="48463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Reason: </a:t>
            </a:r>
            <a:r>
              <a:rPr lang="en-US" sz="1250" dirty="0">
                <a:solidFill>
                  <a:srgbClr val="D9F2ED"/>
                </a:solidFill>
              </a:rPr>
              <a:t>To avoide the wrong entry of a data we must have to validate the schema.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3 &amp;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Tables — E.F. Codd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577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28090"/>
                </a:solidFill>
              </a:rPr>
              <a:t>Rule (3)  </a:t>
            </a:r>
            <a:r>
              <a:rPr lang="en-US" sz="1300" dirty="0">
                <a:solidFill>
                  <a:srgbClr val="1A2E35"/>
                </a:solidFill>
              </a:rPr>
              <a:t>In RDBMS we can easily distribute the same unit data into multiple tables (to avoide the data confusion) &amp; if it is required we can easily established the relation between all the multiple tables, with the help of key attributes / foreign key.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30"/>
                </a:solidFill>
              </a:rPr>
              <a:t>Employee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91440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3337560"/>
            <a:ext cx="91440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337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Ename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11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E1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71600" y="361188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611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Sham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91440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679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E2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371600" y="3867912"/>
            <a:ext cx="91440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38679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Ram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123944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239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E3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371600" y="4123944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41239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Raju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68880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30"/>
                </a:solidFill>
              </a:rPr>
              <a:t>Department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68880" y="3337560"/>
            <a:ext cx="91440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337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DNo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83280" y="3337560"/>
            <a:ext cx="91440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3337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Oname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361188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0" y="3611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D1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83280" y="3611880"/>
            <a:ext cx="914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611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HR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68880" y="3867912"/>
            <a:ext cx="91440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68880" y="38679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D2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83280" y="3867912"/>
            <a:ext cx="91440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8679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Sales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480560" y="3044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30"/>
                </a:solidFill>
              </a:rPr>
              <a:t>Client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0" y="3337560"/>
            <a:ext cx="77724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3375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7800" y="3337560"/>
            <a:ext cx="77724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33375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Cname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80560" y="3611880"/>
            <a:ext cx="777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361188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C1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257800" y="3611880"/>
            <a:ext cx="777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361188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Karan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480560" y="3867912"/>
            <a:ext cx="77724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80560" y="38679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C2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257800" y="3867912"/>
            <a:ext cx="77724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7800" y="38679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Arjun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" y="50749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7A80"/>
                </a:solidFill>
              </a:rPr>
              <a:t>key attribute / Foreign Key → DNO, CID columns link Employee to Department &amp; Client.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63640" y="141732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Text 52"/>
          <p:cNvSpPr/>
          <p:nvPr/>
        </p:nvSpPr>
        <p:spPr>
          <a:xfrm>
            <a:off x="65379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178040" y="1691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(4)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537960" y="2331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E35"/>
                </a:solidFill>
              </a:rPr>
              <a:t>In RDBMS we are storing the entire data in the form of table format including metadata.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537960" y="30632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E35"/>
                </a:solidFill>
              </a:rPr>
              <a:t>The details of another data is known as </a:t>
            </a:r>
            <a:r>
              <a:rPr lang="en-US" sz="1300" b="1" dirty="0">
                <a:solidFill>
                  <a:srgbClr val="028090"/>
                </a:solidFill>
              </a:rPr>
              <a:t>metadata.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537960" y="361188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2E35"/>
                </a:solidFill>
              </a:rPr>
              <a:t>The table in which the metadata will get stored is known as </a:t>
            </a:r>
            <a:r>
              <a:rPr lang="en-US" sz="1300" b="1" dirty="0">
                <a:solidFill>
                  <a:srgbClr val="028090"/>
                </a:solidFill>
              </a:rPr>
              <a:t>meta-table.</a:t>
            </a:r>
            <a:r>
              <a:rPr lang="en-US" sz="1300" dirty="0">
                <a:solidFill>
                  <a:srgbClr val="1A2E35"/>
                </a:solidFill>
              </a:rPr>
              <a:t> The meta-table &amp; metadata will get create by the system itself.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537960" y="45537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B30"/>
                </a:solidFill>
              </a:rPr>
              <a:t>Student table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537960" y="4846320"/>
            <a:ext cx="79248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4846320"/>
            <a:ext cx="79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SID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30440" y="4846320"/>
            <a:ext cx="79248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30440" y="4846320"/>
            <a:ext cx="79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Sname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122920" y="4846320"/>
            <a:ext cx="792480" cy="274320"/>
          </a:xfrm>
          <a:prstGeom prst="rect">
            <a:avLst/>
          </a:prstGeom>
          <a:solidFill>
            <a:srgbClr val="0280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122920" y="4846320"/>
            <a:ext cx="79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Image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37960" y="5120640"/>
            <a:ext cx="792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5120640"/>
            <a:ext cx="79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S1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30440" y="5120640"/>
            <a:ext cx="792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30440" y="5120640"/>
            <a:ext cx="79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Ram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122920" y="5120640"/>
            <a:ext cx="7924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122920" y="5120640"/>
            <a:ext cx="79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😊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537960" y="5376672"/>
            <a:ext cx="79248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537960" y="5376672"/>
            <a:ext cx="79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S2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330440" y="5376672"/>
            <a:ext cx="79248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30440" y="5376672"/>
            <a:ext cx="79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Shyam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8122920" y="5376672"/>
            <a:ext cx="792480" cy="256032"/>
          </a:xfrm>
          <a:prstGeom prst="rect">
            <a:avLst/>
          </a:prstGeom>
          <a:solidFill>
            <a:srgbClr val="F2F7F7"/>
          </a:solidFill>
          <a:ln w="6350">
            <a:solidFill>
              <a:srgbClr val="D8E6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22920" y="5376672"/>
            <a:ext cx="79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5"/>
                </a:solidFill>
              </a:rPr>
              <a:t>😊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9144000" y="50749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E35"/>
                </a:solidFill>
              </a:rPr>
              <a:t>Name: R.128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E35"/>
                </a:solidFill>
              </a:rPr>
              <a:t>SBC: 1000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E35"/>
                </a:solidFill>
              </a:rPr>
              <a:t>Res: 360×480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A2E35"/>
                </a:solidFill>
              </a:rPr>
              <a:t>Format: JPG  → metadata</a:t>
            </a:r>
            <a:endParaRPr lang="en-US" sz="950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Validation &amp; Datatypes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47120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Validation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FF9"/>
                </a:solidFill>
              </a:rPr>
              <a:t>It is the process of validating or verifying whether the proper data is getting stored in respective column or not.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</a:rPr>
              <a:t>Done by assigning: ① datatype to the column   ② constraints to the column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Datatypes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E35"/>
                </a:solidFill>
              </a:rPr>
              <a:t>Datatypes are used to determine which kind of data should get stores into particular memory location. In SQL mainly there are 5 datatype's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4617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166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0"/>
                </a:solidFill>
              </a:rPr>
              <a:t>char()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623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0"/>
                </a:solidFill>
              </a:rPr>
              <a:t>character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0" y="443484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80360" y="46177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2880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80360" y="5166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0"/>
                </a:solidFill>
              </a:rPr>
              <a:t>var-char() / var-char(2)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5623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0"/>
                </a:solidFill>
              </a:rPr>
              <a:t>string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443484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4617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5166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0"/>
                </a:solidFill>
              </a:rPr>
              <a:t>date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5623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0"/>
                </a:solidFill>
              </a:rPr>
              <a:t>date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0" y="443484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4617720"/>
            <a:ext cx="457200" cy="457200"/>
          </a:xfrm>
          <a:prstGeom prst="ellipse">
            <a:avLst/>
          </a:prstGeom>
          <a:solidFill>
            <a:srgbClr val="0B2B30"/>
          </a:solidFill>
          <a:ln/>
        </p:spPr>
      </p:sp>
      <p:sp>
        <p:nvSpPr>
          <p:cNvPr id="30" name="Text 28"/>
          <p:cNvSpPr/>
          <p:nvPr/>
        </p:nvSpPr>
        <p:spPr>
          <a:xfrm>
            <a:off x="7452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52360" y="5166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0"/>
                </a:solidFill>
              </a:rPr>
              <a:t>number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5623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0"/>
                </a:solidFill>
              </a:rPr>
              <a:t>number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601200" y="443484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8360" y="4617720"/>
            <a:ext cx="457200" cy="457200"/>
          </a:xfrm>
          <a:prstGeom prst="ellipse">
            <a:avLst/>
          </a:prstGeom>
          <a:solidFill>
            <a:srgbClr val="6C3F91"/>
          </a:solidFill>
          <a:ln/>
        </p:spPr>
      </p:sp>
      <p:sp>
        <p:nvSpPr>
          <p:cNvPr id="35" name="Text 33"/>
          <p:cNvSpPr/>
          <p:nvPr/>
        </p:nvSpPr>
        <p:spPr>
          <a:xfrm>
            <a:off x="9738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38360" y="5166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0"/>
                </a:solidFill>
              </a:rPr>
              <a:t>large object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38360" y="5623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0"/>
                </a:solidFill>
              </a:rPr>
              <a:t>CLOB / BLOB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CHAR   ② VAR-CHAR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 &amp; Var-char Datatype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char datatype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5"/>
                </a:solidFill>
              </a:rPr>
              <a:t>•  The char datatype will allow uppercase or lowercase any character.
•  It will also allow any special character (#,$,@,*)
•  It will also allows zero to nine (0-9) any number.
•  It will also allows No character's.
•  It will also allows any alphanumerics
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30"/>
                </a:solidFill>
              </a:rPr>
              <a:t>Syntax:  char (size) → max 2000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5"/>
                </a:solidFill>
              </a:rPr>
              <a:t>The char datatype follows fixed length of memory allocation.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470916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63040" y="470916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470916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470916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</a:rPr>
              <a:t>used memory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440E"/>
                </a:solidFill>
              </a:rPr>
              <a:t>unused / wasted memory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5577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80"/>
                </a:solidFill>
              </a:rPr>
              <a:t>char(10)  Exa: "SMITH" →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31520" y="5943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0"/>
                </a:solidFill>
              </a:rPr>
              <a:t>Storage system: char(10) char(10) → 10/2000 chars each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141732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0B2B30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var-char datatype()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537960" y="205740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•  The var-char datatype will allow uppercase and lowercase.
•  It will allow any special character
•  It will allow (0-9) any number
•  It will allow No-characters
•  It will allow any alphanumerics.
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3796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Syntax:  var_char (size) → max 2000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F2ED"/>
                </a:solidFill>
              </a:rPr>
              <a:t>It will follows the variable length of memory allocation.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37960" y="4709160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3720" y="4709160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69480" y="4709160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6948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35240" y="4709160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3524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01000" y="4709160"/>
            <a:ext cx="36576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4709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6676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3252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9828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6404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829800" y="470916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used memory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45820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8CE"/>
                </a:solidFill>
              </a:rPr>
              <a:t>free memory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37960" y="55778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F2ED"/>
                </a:solidFill>
              </a:rPr>
              <a:t>In varchar datatype the unused memory will not be assign as a wasted memory — it will return to memory allocation and saved in it.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STORAGE-OPTIMISED TYPES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Var-char2 &amp; Large Object Datatype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1247120" cy="1691640"/>
          </a:xfrm>
          <a:prstGeom prst="roundRect">
            <a:avLst>
              <a:gd name="adj" fmla="val 5405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var-char2 datatype ()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35"/>
                </a:solidFill>
              </a:rPr>
              <a:t>It is a updated version of varchar datatype which specifically make for variable size of string data. There is no much more difference between varchar() &amp; varchar2 ().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249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30"/>
                </a:solidFill>
              </a:rPr>
              <a:t>Syntax:  var_char2 (" ") → size → 4000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Large object: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E35"/>
                </a:solidFill>
              </a:rPr>
              <a:t>This datatype is used to store the large amount of data in the column. The large object has been classified into two types :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05494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8463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Character Large Object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440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FF9"/>
                </a:solidFill>
              </a:rPr>
              <a:t>This datatype is used to store the huge amount of string data upto 4GB.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943600"/>
            <a:ext cx="12801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43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</a:rPr>
              <a:t>CLOB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617720"/>
            <a:ext cx="5440680" cy="1828800"/>
          </a:xfrm>
          <a:prstGeom prst="roundRect">
            <a:avLst>
              <a:gd name="adj" fmla="val 5000"/>
            </a:avLst>
          </a:prstGeom>
          <a:solidFill>
            <a:srgbClr val="0B2B3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846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48463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Binary Large Object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5440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F2ED"/>
                </a:solidFill>
              </a:rPr>
              <a:t>This datatype is used to store and any multimedia type of 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5943600"/>
            <a:ext cx="17373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943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30"/>
                </a:solidFill>
              </a:rPr>
              <a:t>BLOB → 4GB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DATE   ⑤ NUMBER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&amp; Number Datatype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40680" cy="2331720"/>
          </a:xfrm>
          <a:prstGeom prst="roundRect">
            <a:avLst>
              <a:gd name="adj" fmla="val 392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Date datatype: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5"/>
                </a:solidFill>
              </a:rPr>
              <a:t>It is used to store any date kind of information.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B30"/>
                </a:solidFill>
              </a:rPr>
              <a:t>Syntax: DATE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E35"/>
                </a:solidFill>
              </a:rPr>
              <a:t>In SQL there are two format to stores the date: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E35"/>
                </a:solidFill>
              </a:rPr>
              <a:t>① 'DD--mon--YY'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2E35"/>
                </a:solidFill>
              </a:rPr>
              <a:t>② 'DD--mon--YYYY'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C7A80"/>
                </a:solidFill>
              </a:rPr>
              <a:t>DD → two digit of date   mon → first 3 char of month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C7A80"/>
                </a:solidFill>
              </a:rPr>
              <a:t>YY → last two digit of year   YYYY → 4 digit of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0B2B3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793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Number datatype: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81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This datatype is used to store an any numeric type of data.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50474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Syntax:  Number (precision, [scale])   → scale optional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440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F2ED"/>
                </a:solidFill>
              </a:rPr>
              <a:t>precision: digits to store an integer value. Range 1–38, default 38.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9F2ED"/>
                </a:solidFill>
              </a:rPr>
              <a:t>scale: digits after decimal, within precision. Range -84–+127, default 0.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63040"/>
          <a:ext cx="5440680" cy="48920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9 9 9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-999 to +999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9 9 9 9 9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-99999 to +99999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Number(5,2)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-999.99 to +999.99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Number(5,5)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-0.99999 to +0.99999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Number(4,7)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s&gt;p → s-p=3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Number(3,5)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s&gt;p → s-p=2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0.00999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Number(5,-2)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99999.00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scale is negative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Number(6,-4)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999999.0000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scale is negative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CONSTRAINTS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E35"/>
                </a:solidFill>
              </a:rPr>
              <a:t>Constraints are the rule which are used to validate the schema by assigning the any particular conditions. In SQL there are </a:t>
            </a:r>
            <a:r>
              <a:rPr lang="en-US" sz="1500" b="1" dirty="0">
                <a:solidFill>
                  <a:srgbClr val="028090"/>
                </a:solidFill>
              </a:rPr>
              <a:t>7 type's of constraints.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1  Unique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2  Null / Not Null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21945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3  Check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0" y="21945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0B2B30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4  Autoincreament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6C3F9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5  Default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91840" y="28803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6  Primary Key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28803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28803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7  Foreign Key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unique constraints: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" y="427939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35"/>
                </a:solidFill>
              </a:rPr>
              <a:t>This constraint is used to remove the repeated values from an any columns.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846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0"/>
                </a:solidFill>
              </a:rPr>
              <a:t>Syntax:  unique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257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Null / Not Null constraints: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" y="565099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2E35"/>
                </a:solidFill>
              </a:rPr>
              <a:t>NULL: optional column.   NOT NULL: mandatory column.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3703320"/>
            <a:ext cx="5440680" cy="2834640"/>
          </a:xfrm>
          <a:prstGeom prst="roundRect">
            <a:avLst>
              <a:gd name="adj" fmla="val 3226"/>
            </a:avLst>
          </a:prstGeom>
          <a:solidFill>
            <a:srgbClr val="0B2B30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886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37960" y="4261104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It is a constraints which is used to consider a respective column as an optional one.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Syntax: NULL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5074920"/>
            <a:ext cx="4937760" cy="0"/>
          </a:xfrm>
          <a:prstGeom prst="line">
            <a:avLst/>
          </a:prstGeom>
          <a:noFill/>
          <a:ln w="12700">
            <a:solidFill>
              <a:srgbClr val="3A6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51937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NULL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537960" y="5568696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It is a constraints which is used to consider the respective column as a mandatory column.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Syntax: NOT NULL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④ 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Check, Autoincrement &amp; Default Constraints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check constraints: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E35"/>
                </a:solidFill>
              </a:rPr>
              <a:t>It is a constraints which is used to assign an any condition to the column.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3108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25196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check (condition)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Exa:  check (sal&gt;0)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(length(mno.) = 10)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51960" y="14630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0B2B3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Autoincreament constraints: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It is a constraints which is used to assign an autoincreament feature to any column.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26280" y="4114800"/>
            <a:ext cx="3108960" cy="1965960"/>
          </a:xfrm>
          <a:prstGeom prst="roundRect">
            <a:avLst>
              <a:gd name="adj" fmla="val 2791"/>
            </a:avLst>
          </a:prstGeom>
          <a:solidFill>
            <a:srgbClr val="0F3A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425196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F2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9F2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Auto_increament (start point, skip value, End value)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146304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373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Default constraints: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21040" y="242316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E35"/>
                </a:solidFill>
              </a:rPr>
              <a:t>It is a constraints which is used to assign an any default value for the columns.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21040" y="4114800"/>
            <a:ext cx="3108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425196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Default . value.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Exa:  default 'ICS'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&amp; Foreign Key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05494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⑥ Primary Key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•  It is a constraints which is used to identify an any unique record from the table.
•  The primary key is a combination of unique and not null constraints.
•  The primary key column / primary key constraints will not allow any repeated value and also it will not allow an any empty set.
•  In a 1 table we can have only one primary key.
•  The primary key of 1 table can able to become the foreign key in another table.
•  We can also make the multiple columns together as a 1 primary key — those kind of columns are known as composite key attributes.
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6080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FFF9"/>
                </a:solidFill>
              </a:rPr>
              <a:t>Syntax:  primary key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463040"/>
            <a:ext cx="5440680" cy="4892040"/>
          </a:xfrm>
          <a:prstGeom prst="roundRect">
            <a:avLst>
              <a:gd name="adj" fmla="val 1869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0B2B30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78040" y="169164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⑦ Foreign Key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78040" y="2103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A80"/>
                </a:solidFill>
              </a:rPr>
              <a:t>(referential integrity)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46888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2E35"/>
                </a:solidFill>
              </a:rPr>
              <a:t>•  It is used to establish the connection between multiple tables.
•  It is not a combination of unique and not null constraints.
•  It will allow repeated value and empty sets.
•  In a 1 table we can have upto 255 foreign keys.
•  To become the foreign key the column should be primary key in another table.
•  The foreign key will be present in child table but it is belongs to parent table.
•  The foreign key is also known as referential integrity constraints.
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37960" y="5806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Syntax:  foreign key (col-name) references parent-tab-name (col-name).</a:t>
            </a:r>
            <a:endParaRPr lang="en-US" sz="1100" dirty="0"/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— DEPARTMENT — CLIENT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&amp; Foreign Key in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30"/>
                </a:solidFill>
              </a:rPr>
              <a:t>Employee — child table (key attribute / Foreign Key)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7315200" cy="18288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DNO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144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0"/>
                </a:solidFill>
              </a:rPr>
              <a:t>Department — parent table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347472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DNo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29768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B30"/>
                </a:solidFill>
              </a:rPr>
              <a:t>Client — parent table</a:t>
            </a:r>
            <a:endParaRPr lang="en-US" sz="12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4160520"/>
          <a:ext cx="3474720" cy="10515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 (PK)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8229600" y="1463040"/>
            <a:ext cx="3474720" cy="4937760"/>
          </a:xfrm>
          <a:prstGeom prst="roundRect">
            <a:avLst>
              <a:gd name="adj" fmla="val 2632"/>
            </a:avLst>
          </a:prstGeom>
          <a:solidFill>
            <a:srgbClr val="0B2B30"/>
          </a:solidFill>
          <a:ln/>
        </p:spPr>
      </p:sp>
      <p:sp>
        <p:nvSpPr>
          <p:cNvPr id="14" name="Text 9"/>
          <p:cNvSpPr/>
          <p:nvPr/>
        </p:nvSpPr>
        <p:spPr>
          <a:xfrm>
            <a:off x="8503920" y="1691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503920" y="21488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•  The moviement when we add the foreign key, the relation will exists between the table.
•  The relation will also starts from parent to child table.
</a:t>
            </a:r>
            <a:endParaRPr lang="en-US" sz="1150" dirty="0"/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 THERE ARE 4 TYPES OF RELATIONS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 in SQL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 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35"/>
                </a:solidFill>
              </a:rPr>
              <a:t>The one record from the parent table if it is refering only one record of child table, these kind of relation, one to one relation.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(1)  →  (1) passport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51960" y="14630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691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to many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2286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35"/>
                </a:solidFill>
              </a:rPr>
              <a:t>The many records from the parent table if it is refering only one record of child table, these kind of relation - one to many.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384048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840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(1)  →  (m) Emp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14630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2F7F7"/>
          </a:solidFill>
          <a:ln w="12700">
            <a:solidFill>
              <a:srgbClr val="D8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6916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1540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to one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21040" y="2286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E35"/>
                </a:solidFill>
              </a:rPr>
              <a:t>The multiple records from the parent table if it is refering only one record in a child table.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C7A80"/>
                </a:solidFill>
              </a:rPr>
              <a:t>Exa: parent table (SID: S1 A, S2 B, S3 C, S4 D)  →  child table (CID: C1 SQL, C2 Java, C3 Python) mapped via junction table.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B2B30"/>
                </a:solidFill>
              </a:rPr>
              <a:t>To maintain the many to one relation we need to create one main table called as junction table to handle the relations.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EE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MANY TO MANY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to Many Relation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47120" cy="1828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028090"/>
                </a:solidFill>
              </a:rPr>
              <a:t>④ many to many: </a:t>
            </a:r>
            <a:r>
              <a:rPr lang="en-US" sz="1400" dirty="0">
                <a:solidFill>
                  <a:srgbClr val="1A2E35"/>
                </a:solidFill>
              </a:rPr>
              <a:t>The multiple records from one table if it is refering the multiple records of another, these type of relation are known as many to many relation.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30"/>
                </a:solidFill>
              </a:rPr>
              <a:t>Actors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274320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(PK)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Tanvir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96112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30"/>
                </a:solidFill>
              </a:rPr>
              <a:t>Movies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0" y="2971800"/>
          <a:ext cx="2651760" cy="19202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(PK)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K&amp;A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70916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B30"/>
                </a:solidFill>
              </a:rPr>
              <a:t>Junction table</a:t>
            </a:r>
            <a:endParaRPr lang="en-US" sz="13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4526280"/>
          <a:ext cx="2743200" cy="15544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3337560" y="3840480"/>
            <a:ext cx="1325880" cy="822960"/>
          </a:xfrm>
          <a:prstGeom prst="line">
            <a:avLst/>
          </a:prstGeom>
          <a:noFill/>
          <a:ln w="22225">
            <a:solidFill>
              <a:srgbClr val="5C7A80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 flipV="1">
            <a:off x="7406640" y="3840480"/>
            <a:ext cx="1508760" cy="822960"/>
          </a:xfrm>
          <a:prstGeom prst="line">
            <a:avLst/>
          </a:prstGeom>
          <a:noFill/>
          <a:ln w="22225">
            <a:solidFill>
              <a:srgbClr val="5C7A80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457200" y="617220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0B2B30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To maintain the many to many relation we need to create one junction table called as junction table to handle the relations.</a:t>
            </a:r>
            <a:endParaRPr lang="en-US" sz="1250" dirty="0"/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 rot="19500000">
            <a:off x="-2743200" y="2651760"/>
            <a:ext cx="1764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kern="0" spc="400" dirty="0">
                <a:solidFill>
                  <a:srgbClr val="163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VIDHI PATLE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0195560" y="734263"/>
            <a:ext cx="1371600" cy="1640434"/>
          </a:xfrm>
          <a:prstGeom prst="rect">
            <a:avLst/>
          </a:prstGeom>
          <a:solidFill>
            <a:srgbClr val="F2F7F7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502920"/>
            <a:ext cx="1371600" cy="462686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95560" y="2143354"/>
            <a:ext cx="1371600" cy="462686"/>
          </a:xfrm>
          <a:prstGeom prst="ellipse">
            <a:avLst/>
          </a:prstGeom>
          <a:solidFill>
            <a:srgbClr val="F2F7F7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95560" y="182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</a:rPr>
              <a:t>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858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SQL Notes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FF9"/>
                </a:solidFill>
              </a:rPr>
              <a:t>SQL communicates with RDBMS software using a query language.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1546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FF9"/>
                </a:solidFill>
              </a:rPr>
              <a:t>RDBMS stores data in table format; NRDBMS stores it in JSON / document format.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069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FF9"/>
                </a:solidFill>
              </a:rPr>
              <a:t>CRUD operations: Create, Read, Update, Delete — the four basic tasks on a database.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937760"/>
            <a:ext cx="365760" cy="365760"/>
          </a:xfrm>
          <a:prstGeom prst="ellipse">
            <a:avLst/>
          </a:prstGeom>
          <a:solidFill>
            <a:srgbClr val="6C3F9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8920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FF9"/>
                </a:solidFill>
              </a:rPr>
              <a:t>E.F. Codd's rules define atomic data, schema, multiple related tables &amp; metadata.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2331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2860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FF9"/>
                </a:solidFill>
              </a:rPr>
              <a:t>Datatypes: char, var-char / var-char2, date, number, large object (CLOB / BLOB).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32004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31546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FF9"/>
                </a:solidFill>
              </a:rPr>
              <a:t>Constraints: unique, null/not null, check, autoincrement, default, primary key, foreign key.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40690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40233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FFF9"/>
                </a:solidFill>
              </a:rPr>
              <a:t>Relations: one-to-one, one-to-many, many-to-one &amp; many-to-many (via junction table).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6126480"/>
            <a:ext cx="10789920" cy="18288"/>
          </a:xfrm>
          <a:prstGeom prst="rect">
            <a:avLst/>
          </a:prstGeom>
          <a:solidFill>
            <a:srgbClr val="244A5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6263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  Vidhi Patle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47572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80"/>
                </a:solidFill>
              </a:rPr>
              <a:t>SQL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2948</Words>
  <Application>Microsoft Office PowerPoint</Application>
  <PresentationFormat>Widescreen</PresentationFormat>
  <Paragraphs>531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Vidhi Patle</cp:lastModifiedBy>
  <cp:revision>2</cp:revision>
  <dcterms:created xsi:type="dcterms:W3CDTF">2026-08-23T16:27:38Z</dcterms:created>
  <dcterms:modified xsi:type="dcterms:W3CDTF">2026-08-24T06:49:08Z</dcterms:modified>
</cp:coreProperties>
</file>